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đề tài, mục tiêu demo 5-7 phút: quản lý điện nước + AI phân tích.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bài toán, phạm vi MVP và 2 vai trò. Ảnh dashboard minh họa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luồng: SPA gọi API, service đọc SQLite, AI client gọi Qwen, prompt tách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nhập chỉ số, tạo hóa đơn, ghi thanh toán, xem cảnh báo.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prompt tách khỏi code, kiểm tra output và fallback nội bộ.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kết quả live với Qwen3.8-27B; nhấn mạnh không bịa nguyên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hỏi 'Theo bạn tháng 7 nhà tôi dùng điện thế nào?', sau đó thử prompt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94 test, các regression quan trọng: truncation, DESC, chat AI, RBAC,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các biện pháp bảo mật cơ bản và checklist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hạn chế thẳng thắn; nhấn mạnh fallback giúp demo ổn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Tập dượt 2 lần; phương án dự phòng 429/mất mạng là cache + fallback + ảnh chụp.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thúc, mời Q&amp;A; mở repo/Swagger nếu cần.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4206240"/>
            <a:ext cx="1280160" cy="1280160"/>
          </a:xfrm>
          <a:prstGeom prst="ellipse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937760"/>
            <a:ext cx="731520" cy="731520"/>
          </a:xfrm>
          <a:prstGeom prst="ellipse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Segoe UI"/>
              </a:rPr>
              <a:t>UTILITYAI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EEF7"/>
                </a:solidFill>
                <a:latin typeface="Segoe UI"/>
              </a:rPr>
              <a:t>Quản lý Hóa đơn
Điện nước Hộ gia đình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9FB0C7"/>
                </a:solidFill>
                <a:latin typeface="Segoe UI"/>
              </a:rPr>
              <a:t>Tích hợp AI phân tích tiêu thụ · Qwen3.8-27B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0C7"/>
                </a:solidFill>
                <a:latin typeface="Segoe UI"/>
              </a:rPr>
              <a:t>Nhóm 2  ·  Đề tài 48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17720"/>
            <a:ext cx="1828800" cy="86868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8231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30952"/>
            <a:ext cx="1371600" cy="45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4617720"/>
            <a:ext cx="1828800" cy="86868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478231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30952"/>
            <a:ext cx="1371600" cy="45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Dữ liệu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617720"/>
            <a:ext cx="1828800" cy="86868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478231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5330952"/>
            <a:ext cx="1371600" cy="45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API chuẩn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617720"/>
            <a:ext cx="1828800" cy="86868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78231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94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330952"/>
            <a:ext cx="1371600" cy="45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Kiểm thử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Bài toán &amp;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Segoe UI"/>
              </a:rPr>
              <a:t>•  Hộ gia đình / khu trọ ghi chép chỉ số rời rạc, dễ sai và khó phát hiện bất thường.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Segoe UI"/>
              </a:rPr>
              <a:t>•  Cần quản lý hộ, đồng hồ, chỉ số theo kỳ, đơn giá, hóa đơn, thanh toán và công nợ.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E8EEF7"/>
                </a:solidFill>
                <a:latin typeface="Segoe UI"/>
              </a:rPr>
              <a:t>•  Muốn AI đọc dữ liệu thật để nhận xét, cảnh báo và gợi ý tiết kiệm — không bịa số.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3291840" cy="105156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793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28032"/>
            <a:ext cx="2834640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vai trò: Admin /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14800"/>
            <a:ext cx="3200400" cy="105156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27939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828032"/>
            <a:ext cx="2743200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nhóm chức năng quản lý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114800"/>
            <a:ext cx="3200400" cy="105156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27939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828032"/>
            <a:ext cx="2743200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nhóm chức năng AI</a:t>
            </a:r>
          </a:p>
        </p:txBody>
      </p:sp>
      <p:pic>
        <p:nvPicPr>
          <p:cNvPr id="17" name="Picture 16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08760"/>
            <a:ext cx="3730751" cy="2331720"/>
          </a:xfrm>
          <a:prstGeom prst="rect">
            <a:avLst/>
          </a:prstGeom>
          <a:ln w="9525">
            <a:solidFill>
              <a:srgbClr val="2D3A4E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37744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47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HTML · CSS · Vanilla 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737360"/>
            <a:ext cx="237744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847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212848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REST · Auth · RBAC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737360"/>
            <a:ext cx="237744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8470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212848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billing · alert ·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737360"/>
            <a:ext cx="182880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1847088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7" y="2212848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WAL · backup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840480"/>
            <a:ext cx="237744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8" y="395020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AI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315968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OpenAI-compatible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840480"/>
            <a:ext cx="237744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95020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Qwen3.8-27B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315968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Intern-AI · /chat/completions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840480"/>
            <a:ext cx="1828800" cy="914400"/>
          </a:xfrm>
          <a:prstGeom prst="roundRect">
            <a:avLst/>
          </a:prstGeom>
          <a:solidFill>
            <a:srgbClr val="121A2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7" y="3950208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Segoe UI"/>
              </a:rPr>
              <a:t>Prompt 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7" y="4315968"/>
            <a:ext cx="1609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7"/>
                </a:solidFill>
                <a:latin typeface="Segoe UI"/>
              </a:rPr>
              <a:t>system + user + guard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2194560"/>
            <a:ext cx="640080" cy="0"/>
          </a:xfrm>
          <a:prstGeom prst="line">
            <a:avLst/>
          </a:prstGeom>
          <a:ln w="1524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35040" y="2194560"/>
            <a:ext cx="640080" cy="0"/>
          </a:xfrm>
          <a:prstGeom prst="line">
            <a:avLst/>
          </a:prstGeom>
          <a:ln w="1524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52560" y="2194560"/>
            <a:ext cx="640080" cy="0"/>
          </a:xfrm>
          <a:prstGeom prst="line">
            <a:avLst/>
          </a:prstGeom>
          <a:ln w="1524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46320" y="2651760"/>
            <a:ext cx="0" cy="1188720"/>
          </a:xfrm>
          <a:prstGeom prst="line">
            <a:avLst/>
          </a:prstGeom>
          <a:ln w="1524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46320" y="4297680"/>
            <a:ext cx="1828800" cy="0"/>
          </a:xfrm>
          <a:prstGeom prst="line">
            <a:avLst/>
          </a:prstGeom>
          <a:ln w="1524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577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Segoe UI"/>
              </a:rPr>
              <a:t>Dữ liệu đi từ CSDL → service → AI; kết quả quay lại UI kèm metadata nguồn/kỳ/prompt.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NGHIỆP VỤ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Quản lý hộ, chỉ số, hóa đơn, thanh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Đăng nhập + phân quyền Admin/User theo hộ.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CRUD hộ/phòng, đồng hồ, đơn giá bậc thang EVN + nước.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Nhập chỉ số kỳ, kiểm tra trùng kỳ và chỉ số âm/giảm.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Tính hóa đơn có VAT, thanh toán một phần/toàn bộ, công nợ.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Cảnh báo tiêu thụ tăng &gt; 50% so với TB 3 kỳ.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55955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hộ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84632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55955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bậc giá điện</a:t>
            </a:r>
          </a:p>
        </p:txBody>
      </p:sp>
      <p:pic>
        <p:nvPicPr>
          <p:cNvPr id="14" name="Picture 13" descr="user-r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754880" cy="2971800"/>
          </a:xfrm>
          <a:prstGeom prst="rect">
            <a:avLst/>
          </a:prstGeom>
          <a:ln w="9525">
            <a:solidFill>
              <a:srgbClr val="2D3A4E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Pipeline phân tích tiêu thụ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Chọn N kỳ gần nhất (1–12) + hóa đơn + cảnh báo chưa xử lý.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Prompt v3 tách system/user, nêu ngưỡng 50%, buộc 5 mục output.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Gọi Qwen3.8-27B qua API chuẩn OpenAI; timeout 30s, max 4096 token.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Kiểm tra đủ 5 mục + kết thúc câu; retry/fallback nếu thiếu.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Trả metadata: source, model, kỳ, prompt version, thời điểm, cache.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92040"/>
            <a:ext cx="219456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056631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05272"/>
            <a:ext cx="173736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mục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892040"/>
            <a:ext cx="219456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56631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4096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605272"/>
            <a:ext cx="173736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max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892040"/>
            <a:ext cx="201168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5056631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30s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5605272"/>
            <a:ext cx="155448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timeout</a:t>
            </a:r>
          </a:p>
        </p:txBody>
      </p:sp>
      <p:pic>
        <p:nvPicPr>
          <p:cNvPr id="17" name="Picture 16" descr="admin-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00200"/>
            <a:ext cx="3931920" cy="2457450"/>
          </a:xfrm>
          <a:prstGeom prst="rect">
            <a:avLst/>
          </a:prstGeom>
          <a:ln w="9525">
            <a:solidFill>
              <a:srgbClr val="2D3A4E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AI trả lời đủ 5 mục, bám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371600"/>
          </a:xfrm>
          <a:prstGeom prst="roundRect">
            <a:avLst/>
          </a:prstGeom>
          <a:solidFill>
            <a:srgbClr val="121A28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8EEF7"/>
                </a:solidFill>
                <a:latin typeface="Segoe UI"/>
              </a:rPr>
              <a:t>“Tháng 7/2026, Phòng 101 dùng điện 78,00 kWh; tăng 3,00 kWh so với tháng 6 và tháng 5; nguyên nhân cụ thể: chưa có dữ liệu.”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237744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307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1.035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192024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ký tự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566160"/>
            <a:ext cx="237744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7307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5/5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279392"/>
            <a:ext cx="192024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mục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566160"/>
            <a:ext cx="237744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307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12,1s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79392"/>
            <a:ext cx="192024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thời gian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566160"/>
            <a:ext cx="237744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7307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2.003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279392"/>
            <a:ext cx="192024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FB0C7"/>
                </a:solidFill>
                <a:latin typeface="Segoe UI"/>
              </a:rPr>
              <a:t>Fallback nội bộ khi thiếu key / 429 / timeout / output không đạt — UI đổi badge nguồn.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Chat AI: tự nhiên nhưng có kiểm soát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Câu hỏi tự do → gọi Qwen; tra cứu có cấu trúc → rule-based.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Context chỉ chứa dữ liệu hộ được phép xem; admin xem hộ được hỏi.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System prompt chặn đổi vai trò / lộ prompt / bịa số.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Không có key hoặc lỗi → fallback hướng dẫn, không crash.</a:t>
            </a:r>
          </a:p>
        </p:txBody>
      </p:sp>
      <p:pic>
        <p:nvPicPr>
          <p:cNvPr id="8" name="Picture 7" descr="chat-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212080" cy="3257550"/>
          </a:xfrm>
          <a:prstGeom prst="rect">
            <a:avLst/>
          </a:prstGeom>
          <a:ln w="9525">
            <a:solidFill>
              <a:srgbClr val="2D3A4E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CHẤT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Kiểm thử: 94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949440" cy="502920"/>
          </a:xfrm>
          <a:prstGeom prst="rect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AI + prompt +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Segoe UI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6949440" cy="502920"/>
          </a:xfrm>
          <a:prstGeom prst="rect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Chat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774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Segoe UI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6949440" cy="502920"/>
          </a:xfrm>
          <a:prstGeom prst="rect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900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CRUD / công thức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71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Segoe UI"/>
              </a:rPr>
              <a:t>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6949440" cy="502920"/>
          </a:xfrm>
          <a:prstGeom prst="rect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844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API AI + bảo mật/CORS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661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Segoe UI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6949440" cy="502920"/>
          </a:xfrm>
          <a:prstGeom prst="rect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788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Billing /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Segoe UI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6949440" cy="502920"/>
          </a:xfrm>
          <a:prstGeom prst="rect">
            <a:avLst/>
          </a:prstGeom>
          <a:solidFill>
            <a:srgbClr val="121A28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7316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EEF7"/>
                </a:solidFill>
                <a:latin typeface="Segoe UI"/>
              </a:rPr>
              <a:t>Security / hash / rate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7548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691640"/>
            <a:ext cx="2926080" cy="109728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8562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404872"/>
            <a:ext cx="2468880" cy="274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test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971800"/>
            <a:ext cx="2926080" cy="109728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13639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685032"/>
            <a:ext cx="2468880" cy="274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8912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Bao gồm đúng/sai/biên: months 0/13, 429, timeout, output cắt, DESC, RBAC, cache, hash.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Bảo mật &amp;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583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Mật khẩu PBKDF2-SHA256, tự nâng cấp plaintext cũ khi đăng nhập.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CORS allowlist, rate limit AI/chat, security headers, HSTS khi HTTPS.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SQLite WAL, backup WAL-safe, seed demo tách production.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Nginx + systemd/NSSM, healthcheck /api/health, log AI latency/token.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8056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4515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PBKDF2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hash mật khẩu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48056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464515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19379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allowlist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48056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64515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19379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deploy/nginx.conf · deploy/utilityai.service · tools/backup_db.py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TRUNG THỰC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Hạn chế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Auth demo dùng header username/password → production nên JWT/session + HTTPS.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SQLite phù hợp demo nhỏ; nhiều người dùng nên PostgreSQL.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AI có thể thiếu dữ liệu hoặc dừng giữa mục → đã có retry/fallback và cảnh báo UI.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E8EEF7"/>
                </a:solidFill>
                <a:latin typeface="Segoe UI"/>
              </a:rPr>
              <a:t>•  Chưa có mobile app, chưa tích hợp cổng thanh toán trực tuyến.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00600"/>
            <a:ext cx="2926080" cy="100584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96519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4D399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513832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JWT/session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800600"/>
            <a:ext cx="2926080" cy="100584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96519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5513832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00600"/>
            <a:ext cx="3291840" cy="100584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9651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5513832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thanh toán online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Segoe UI"/>
              </a:rPr>
              <a:t>Kịch bản 5–7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FB0C7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Segoe UI"/>
              </a:rPr>
              <a:t>UtilityAI · Đề tài 48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F1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6479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Segoe UI"/>
              </a:rPr>
              <a:t>Admin đăng nhập → Dashboard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5000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F18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2316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Segoe UI"/>
              </a:rPr>
              <a:t>Nhập chỉ số → tạo hóa đơn → ghi thanh toán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08376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99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F18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815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Segoe UI"/>
              </a:rPr>
              <a:t>Mở cảnh báo &gt; 50%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66744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58183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F18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989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Segoe UI"/>
              </a:rPr>
              <a:t>Phân tích AI 6 tháng → xem 5 mục, badge, cache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25112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1655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F18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9826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Segoe UI"/>
              </a:rPr>
              <a:t>Chat AI: hỏi tự do + thử prompt injection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83479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1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F18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56631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EEF7"/>
                </a:solidFill>
                <a:latin typeface="Segoe UI"/>
              </a:rPr>
              <a:t>Đăng nhập user → chỉ thấy dữ liệu hộ mình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210312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2677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  <a:latin typeface="Segoe UI"/>
              </a:rPr>
              <a:t>429?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81635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dùng cache/fallback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291840"/>
            <a:ext cx="2743200" cy="914400"/>
          </a:xfrm>
          <a:prstGeom prst="rect">
            <a:avLst/>
          </a:prstGeom>
          <a:solidFill>
            <a:srgbClr val="121A28"/>
          </a:solidFill>
          <a:ln w="9525">
            <a:solidFill>
              <a:srgbClr val="2D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45643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  <a:latin typeface="Segoe UI"/>
              </a:rPr>
              <a:t>mất mạng?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005072"/>
            <a:ext cx="2286000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Segoe UI"/>
              </a:rPr>
              <a:t>phân tích nội bộ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Segoe UI"/>
              </a:rPr>
              <a:t>CẢM 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EEF7"/>
                </a:solidFill>
                <a:latin typeface="Segoe UI"/>
              </a:rPr>
              <a:t>Demo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FB0C7"/>
                </a:solidFill>
                <a:latin typeface="Segoe UI"/>
              </a:rPr>
              <a:t>UtilityAI · Quản lý hóa đơn điện nước tích hợp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Segoe UI"/>
              </a:rPr>
              <a:t>github.com/imthoai2k4/nhom_2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0C7"/>
                </a:solidFill>
                <a:latin typeface="Segoe UI"/>
              </a:rPr>
              <a:t>94 test · Qwen3.8-27B · FastAPI + SQLite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